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1ba3647d88489e" /><Relationship Type="http://schemas.openxmlformats.org/officeDocument/2006/relationships/extended-properties" Target="/docProps/app.xml" Id="Rc58f34ad3f084fb5" /><Relationship Type="http://schemas.openxmlformats.org/officeDocument/2006/relationships/officeDocument" Target="/ppt/presentation.xml" Id="R2556b9a7194148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c0d1bb96944d51"/>
  </p:sldMasterIdLst>
  <p:notesMasterIdLst>
    <p:notesMasterId xmlns:r="http://schemas.openxmlformats.org/officeDocument/2006/relationships" r:id="R8430c7a2ed964c6c"/>
  </p:notesMasterIdLst>
  <p:sldIdLst>
    <p:sldId xmlns:r="http://schemas.openxmlformats.org/officeDocument/2006/relationships" id="256" r:id="Rd67cf05354764f2f"/>
    <p:sldId xmlns:r="http://schemas.openxmlformats.org/officeDocument/2006/relationships" id="257" r:id="R939e9fbf8c704bc1"/>
    <p:sldId xmlns:r="http://schemas.openxmlformats.org/officeDocument/2006/relationships" id="258" r:id="R4782d2e6867d4156"/>
    <p:sldId xmlns:r="http://schemas.openxmlformats.org/officeDocument/2006/relationships" id="259" r:id="R2189db44410241a9"/>
    <p:sldId xmlns:r="http://schemas.openxmlformats.org/officeDocument/2006/relationships" id="260" r:id="Rc1c29e859f7748f4"/>
    <p:sldId xmlns:r="http://schemas.openxmlformats.org/officeDocument/2006/relationships" id="261" r:id="Rac0cc5ee20854a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9bea2ea8fa4e4c" /><Relationship Type="http://schemas.openxmlformats.org/officeDocument/2006/relationships/slideMaster" Target="/ppt/slideMasters/slideMaster1.xml" Id="R4dc0d1bb96944d51" /><Relationship Type="http://schemas.openxmlformats.org/officeDocument/2006/relationships/notesMaster" Target="/ppt/notesMasters/notesMaster1.xml" Id="R8430c7a2ed964c6c" /><Relationship Type="http://schemas.openxmlformats.org/officeDocument/2006/relationships/presProps" Target="/ppt/presProps.xml" Id="R3e300437170d4593" /><Relationship Type="http://schemas.openxmlformats.org/officeDocument/2006/relationships/tableStyles" Target="/ppt/tableStyles.xml" Id="R5718530c89ca4a32" /><Relationship Type="http://schemas.openxmlformats.org/officeDocument/2006/relationships/slide" Target="/ppt/slides/slide1.xml" Id="Rd67cf05354764f2f" /><Relationship Type="http://schemas.openxmlformats.org/officeDocument/2006/relationships/slide" Target="/ppt/slides/slide2.xml" Id="R939e9fbf8c704bc1" /><Relationship Type="http://schemas.openxmlformats.org/officeDocument/2006/relationships/slide" Target="/ppt/slides/slide3.xml" Id="R4782d2e6867d4156" /><Relationship Type="http://schemas.openxmlformats.org/officeDocument/2006/relationships/slide" Target="/ppt/slides/slide4.xml" Id="R2189db44410241a9" /><Relationship Type="http://schemas.openxmlformats.org/officeDocument/2006/relationships/slide" Target="/ppt/slides/slide5.xml" Id="Rc1c29e859f7748f4" /><Relationship Type="http://schemas.openxmlformats.org/officeDocument/2006/relationships/slide" Target="/ppt/slides/slide6.xml" Id="Rac0cc5ee20854a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59217f902944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a6ad890c24317" /><Relationship Type="http://schemas.openxmlformats.org/officeDocument/2006/relationships/notesMaster" Target="/ppt/notesMasters/notesMaster1.xml" Id="R6a6ce62e1fcb48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e4141411ae4153" /><Relationship Type="http://schemas.openxmlformats.org/officeDocument/2006/relationships/notesMaster" Target="/ppt/notesMasters/notesMaster1.xml" Id="R53a03f24efa542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1b2d73e10a46af" /><Relationship Type="http://schemas.openxmlformats.org/officeDocument/2006/relationships/notesMaster" Target="/ppt/notesMasters/notesMaster1.xml" Id="R44570015662642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eac8610fb047b2" /><Relationship Type="http://schemas.openxmlformats.org/officeDocument/2006/relationships/notesMaster" Target="/ppt/notesMasters/notesMaster1.xml" Id="R6e2fbd84b29342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d71dd610634d8e" /><Relationship Type="http://schemas.openxmlformats.org/officeDocument/2006/relationships/notesMaster" Target="/ppt/notesMasters/notesMaster1.xml" Id="R7fae2568cb9b45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681007fe0240f8" /><Relationship Type="http://schemas.openxmlformats.org/officeDocument/2006/relationships/notesMaster" Target="/ppt/notesMasters/notesMaster1.xml" Id="Rb92d30ad8fa347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c334e15a724b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15c52195e443f8" /><Relationship Type="http://schemas.openxmlformats.org/officeDocument/2006/relationships/slideLayout" Target="/ppt/slideLayouts/slideLayout1.xml" Id="R7b950989560b4b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950989560b4b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7b060ded8425e" /><Relationship Type="http://schemas.openxmlformats.org/officeDocument/2006/relationships/image" Target="/ppt/media/image.png" Id="R25e65ac9e97f48ca" /><Relationship Type="http://schemas.openxmlformats.org/officeDocument/2006/relationships/notesSlide" Target="/ppt/notesSlides/notesSlide1.xml" Id="R95119ee11423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28e41be704844" /><Relationship Type="http://schemas.openxmlformats.org/officeDocument/2006/relationships/notesSlide" Target="/ppt/notesSlides/notesSlide2.xml" Id="R4d38dfa3a290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8a4e3593b4a60" /><Relationship Type="http://schemas.openxmlformats.org/officeDocument/2006/relationships/notesSlide" Target="/ppt/notesSlides/notesSlide3.xml" Id="R8170ca76b7314c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00a4c67de4170" /><Relationship Type="http://schemas.openxmlformats.org/officeDocument/2006/relationships/notesSlide" Target="/ppt/notesSlides/notesSlide4.xml" Id="Rad05759144864f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20e2b08664245" /><Relationship Type="http://schemas.openxmlformats.org/officeDocument/2006/relationships/notesSlide" Target="/ppt/notesSlides/notesSlide5.xml" Id="R3b1cd77bc3df4c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fc2b6162f4a73" /><Relationship Type="http://schemas.openxmlformats.org/officeDocument/2006/relationships/notesSlide" Target="/ppt/notesSlides/notesSlide6.xml" Id="Rd0b4f3d8abe74b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65ac9e97f48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copy-field">
            <a:extLst xmlns:a="http://schemas.openxmlformats.org/drawingml/2006/main">
              <a:ext uri="{FF2B5EF4-FFF2-40B4-BE49-F238E27FC236}">
                <a16:creationId xmlns:a16="http://schemas.microsoft.com/office/drawing/2014/main" id="{AF192B82-881F-4333-8FD9-6FB7D26F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9344C3E-1DA5-4FA4-A38B-B434E026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8E8"/>
                </a:solidFill>
              </a:defRPr>
            </a:pPr>
            <a:r>
              <a:rPr sz="975" b="1">
                <a:solidFill>
                  <a:srgbClr val="1468E8"/>
                </a:solidFill>
              </a:rPr>
              <a:t>CREATE PRESENTATIONS · EXAMPLE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E9A5235-F060-41AA-A6D8-FEA948C4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202B"/>
                </a:solidFill>
              </a:defRPr>
            </a:pPr>
            <a:r>
              <a:rPr sz="4950" b="1">
                <a:solidFill>
                  <a:srgbClr val="17202B"/>
                </a:solidFill>
              </a:rPr>
              <a:t>Become an</a:t>
            </a:r>
          </a:p>
          <a:p xmlns:a="http://schemas.openxmlformats.org/drawingml/2006/main">
            <a:pPr algn="l">
              <a:defRPr sz="4950" b="1">
                <a:solidFill>
                  <a:srgbClr val="17202B"/>
                </a:solidFill>
              </a:defRPr>
            </a:pPr>
            <a:r>
              <a:rPr sz="4950" b="1">
                <a:solidFill>
                  <a:srgbClr val="17202B"/>
                </a:solidFill>
              </a:rPr>
              <a:t>AI FDE</a:t>
            </a:r>
          </a:p>
        </p:txBody>
      </p:sp>
      <p:sp>
        <p:nvSpPr>
          <p:cNvPr id="5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0DCD4023-F315-4920-8FF6-AC5F87D0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7080"/>
                </a:solidFill>
              </a:defRPr>
            </a:pPr>
            <a:r>
              <a:rPr sz="1950" b="0">
                <a:solidFill>
                  <a:srgbClr val="667080"/>
                </a:solidFill>
              </a:rPr>
              <a:t>Own the path from ambiguity to adoption.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B4AA7D5-84C0-4786-89AF-D92CBA36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179F815-2EBA-430B-A957-65DD2C45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0"/>
                </a:solidFill>
              </a:defRPr>
            </a:pPr>
            <a:r>
              <a:rPr sz="1050" b="0">
                <a:solidFill>
                  <a:srgbClr val="667080"/>
                </a:solidFill>
              </a:rPr>
              <a:t>Native route · Editable copy · Reusable visual master</a:t>
            </a:r>
          </a:p>
        </p:txBody>
      </p:sp>
    </p:spTree>
    <p:extLst>
      <p:ext uri="{BB962C8B-B14F-4D97-AF65-F5344CB8AC3E}">
        <p14:creationId xmlns:p14="http://schemas.microsoft.com/office/powerpoint/2010/main" val="1760820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F274192C-B565-48AE-9D47-840B2AF7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8E8"/>
                </a:solidFill>
              </a:defRPr>
            </a:pPr>
            <a:r>
              <a:rPr sz="975" b="1">
                <a:solidFill>
                  <a:srgbClr val="1468E8"/>
                </a:solidFill>
              </a:rPr>
              <a:t>THE ROLE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1DF72C54-6E97-44DA-B5B3-D727405D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02</a:t>
            </a:r>
          </a:p>
        </p:txBody>
      </p:sp>
      <p:sp>
        <p:nvSpPr>
          <p:cNvPr id="3" name="slide-02-title">
            <a:extLst xmlns:a="http://schemas.openxmlformats.org/drawingml/2006/main">
              <a:ext uri="{FF2B5EF4-FFF2-40B4-BE49-F238E27FC236}">
                <a16:creationId xmlns:a16="http://schemas.microsoft.com/office/drawing/2014/main" id="{3B256B34-1338-46F6-937C-DCF773BF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B"/>
                </a:solidFill>
              </a:defRPr>
            </a:pPr>
            <a:r>
              <a:rPr sz="3300" b="1">
                <a:solidFill>
                  <a:srgbClr val="17202B"/>
                </a:solidFill>
              </a:rPr>
              <a:t>Join four kinds of work into one outcome</a:t>
            </a:r>
          </a:p>
        </p:txBody>
      </p:sp>
      <p:sp>
        <p:nvSpPr>
          <p:cNvPr id="4" name="path-line">
            <a:extLst xmlns:a="http://schemas.openxmlformats.org/drawingml/2006/main">
              <a:ext uri="{FF2B5EF4-FFF2-40B4-BE49-F238E27FC236}">
                <a16:creationId xmlns:a16="http://schemas.microsoft.com/office/drawing/2014/main" id="{6699195E-9A08-403E-A91F-793EC6DB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9667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otion-dot-0">
            <a:extLst xmlns:a="http://schemas.openxmlformats.org/drawingml/2006/main">
              <a:ext uri="{FF2B5EF4-FFF2-40B4-BE49-F238E27FC236}">
                <a16:creationId xmlns:a16="http://schemas.microsoft.com/office/drawing/2014/main" id="{601CE938-C799-4006-B83C-F6711BCF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tion-title-0">
            <a:extLst xmlns:a="http://schemas.openxmlformats.org/drawingml/2006/main">
              <a:ext uri="{FF2B5EF4-FFF2-40B4-BE49-F238E27FC236}">
                <a16:creationId xmlns:a16="http://schemas.microsoft.com/office/drawing/2014/main" id="{6EBC364B-2175-41AD-8476-0903B198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B"/>
                </a:solidFill>
              </a:defRPr>
            </a:pPr>
            <a:r>
              <a:rPr sz="1875" b="1">
                <a:solidFill>
                  <a:srgbClr val="17202B"/>
                </a:solidFill>
              </a:rPr>
              <a:t>Discover</a:t>
            </a:r>
          </a:p>
        </p:txBody>
      </p:sp>
      <p:sp>
        <p:nvSpPr>
          <p:cNvPr id="7" name="motion-body-0">
            <a:extLst xmlns:a="http://schemas.openxmlformats.org/drawingml/2006/main">
              <a:ext uri="{FF2B5EF4-FFF2-40B4-BE49-F238E27FC236}">
                <a16:creationId xmlns:a16="http://schemas.microsoft.com/office/drawing/2014/main" id="{7D0924B2-88E9-43FE-BEB5-F1BA6DA9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Frame the business problem</a:t>
            </a:r>
          </a:p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with the people who feel it.</a:t>
            </a:r>
          </a:p>
        </p:txBody>
      </p:sp>
      <p:sp>
        <p:nvSpPr>
          <p:cNvPr id="8" name="motion-dot-1">
            <a:extLst xmlns:a="http://schemas.openxmlformats.org/drawingml/2006/main">
              <a:ext uri="{FF2B5EF4-FFF2-40B4-BE49-F238E27FC236}">
                <a16:creationId xmlns:a16="http://schemas.microsoft.com/office/drawing/2014/main" id="{E4B5E106-A539-448A-8616-250CF476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otion-title-1">
            <a:extLst xmlns:a="http://schemas.openxmlformats.org/drawingml/2006/main">
              <a:ext uri="{FF2B5EF4-FFF2-40B4-BE49-F238E27FC236}">
                <a16:creationId xmlns:a16="http://schemas.microsoft.com/office/drawing/2014/main" id="{2F2FA452-5970-404F-A5D4-64A51AA3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14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B"/>
                </a:solidFill>
              </a:defRPr>
            </a:pPr>
            <a:r>
              <a:rPr sz="1875" b="1">
                <a:solidFill>
                  <a:srgbClr val="17202B"/>
                </a:solidFill>
              </a:rPr>
              <a:t>Prototype</a:t>
            </a:r>
          </a:p>
        </p:txBody>
      </p:sp>
      <p:sp>
        <p:nvSpPr>
          <p:cNvPr id="10" name="motion-body-1">
            <a:extLst xmlns:a="http://schemas.openxmlformats.org/drawingml/2006/main">
              <a:ext uri="{FF2B5EF4-FFF2-40B4-BE49-F238E27FC236}">
                <a16:creationId xmlns:a16="http://schemas.microsoft.com/office/drawing/2014/main" id="{91F659B7-3EB5-40A1-968C-872E1810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481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Turn uncertainty into</a:t>
            </a:r>
          </a:p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something users can react to.</a:t>
            </a:r>
          </a:p>
        </p:txBody>
      </p:sp>
      <p:sp>
        <p:nvSpPr>
          <p:cNvPr id="11" name="motion-dot-2">
            <a:extLst xmlns:a="http://schemas.openxmlformats.org/drawingml/2006/main">
              <a:ext uri="{FF2B5EF4-FFF2-40B4-BE49-F238E27FC236}">
                <a16:creationId xmlns:a16="http://schemas.microsoft.com/office/drawing/2014/main" id="{C379BEB3-CE90-4FD6-B22E-5B30D152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57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otion-title-2">
            <a:extLst xmlns:a="http://schemas.openxmlformats.org/drawingml/2006/main">
              <a:ext uri="{FF2B5EF4-FFF2-40B4-BE49-F238E27FC236}">
                <a16:creationId xmlns:a16="http://schemas.microsoft.com/office/drawing/2014/main" id="{8342DFA7-164D-4E16-A093-97F62E75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B"/>
                </a:solidFill>
              </a:defRPr>
            </a:pPr>
            <a:r>
              <a:rPr sz="1875" b="1">
                <a:solidFill>
                  <a:srgbClr val="17202B"/>
                </a:solidFill>
              </a:rPr>
              <a:t>Integrate</a:t>
            </a:r>
          </a:p>
        </p:txBody>
      </p:sp>
      <p:sp>
        <p:nvSpPr>
          <p:cNvPr id="13" name="motion-body-2">
            <a:extLst xmlns:a="http://schemas.openxmlformats.org/drawingml/2006/main">
              <a:ext uri="{FF2B5EF4-FFF2-40B4-BE49-F238E27FC236}">
                <a16:creationId xmlns:a16="http://schemas.microsoft.com/office/drawing/2014/main" id="{C6D30463-82F2-4F13-925E-6C01832C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Connect models, data, systems,</a:t>
            </a:r>
          </a:p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and operating constraints.</a:t>
            </a:r>
          </a:p>
        </p:txBody>
      </p:sp>
      <p:sp>
        <p:nvSpPr>
          <p:cNvPr id="14" name="motion-dot-3">
            <a:extLst xmlns:a="http://schemas.openxmlformats.org/drawingml/2006/main">
              <a:ext uri="{FF2B5EF4-FFF2-40B4-BE49-F238E27FC236}">
                <a16:creationId xmlns:a16="http://schemas.microsoft.com/office/drawing/2014/main" id="{971E0C28-AF73-4487-B26B-1BC4440D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575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tion-title-3">
            <a:extLst xmlns:a="http://schemas.openxmlformats.org/drawingml/2006/main">
              <a:ext uri="{FF2B5EF4-FFF2-40B4-BE49-F238E27FC236}">
                <a16:creationId xmlns:a16="http://schemas.microsoft.com/office/drawing/2014/main" id="{EEADB508-1C47-448F-A671-982448F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B"/>
                </a:solidFill>
              </a:defRPr>
            </a:pPr>
            <a:r>
              <a:rPr sz="1875" b="1">
                <a:solidFill>
                  <a:srgbClr val="17202B"/>
                </a:solidFill>
              </a:rPr>
              <a:t>Enable adoption</a:t>
            </a:r>
          </a:p>
        </p:txBody>
      </p:sp>
      <p:sp>
        <p:nvSpPr>
          <p:cNvPr id="16" name="motion-body-3">
            <a:extLst xmlns:a="http://schemas.openxmlformats.org/drawingml/2006/main">
              <a:ext uri="{FF2B5EF4-FFF2-40B4-BE49-F238E27FC236}">
                <a16:creationId xmlns:a16="http://schemas.microsoft.com/office/drawing/2014/main" id="{F32335F2-A61A-4B1E-A04A-F5F961E0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481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Make the new workflow</a:t>
            </a:r>
          </a:p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trustworthy and repeatable.</a:t>
            </a:r>
          </a:p>
        </p:txBody>
      </p:sp>
    </p:spTree>
    <p:extLst>
      <p:ext uri="{BB962C8B-B14F-4D97-AF65-F5344CB8AC3E}">
        <p14:creationId xmlns:p14="http://schemas.microsoft.com/office/powerpoint/2010/main" val="1833574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3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3">
            <a:extLst xmlns:a="http://schemas.openxmlformats.org/drawingml/2006/main">
              <a:ext uri="{FF2B5EF4-FFF2-40B4-BE49-F238E27FC236}">
                <a16:creationId xmlns:a16="http://schemas.microsoft.com/office/drawing/2014/main" id="{4A18318F-D9C0-4B47-80FB-E0F4A316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8E8"/>
                </a:solidFill>
              </a:defRPr>
            </a:pPr>
            <a:r>
              <a:rPr sz="975" b="1">
                <a:solidFill>
                  <a:srgbClr val="1468E8"/>
                </a:solidFill>
              </a:rPr>
              <a:t>YOUR STARTING POINT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4517A237-E101-416F-8654-48A47DF7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03</a:t>
            </a:r>
          </a:p>
        </p:txBody>
      </p:sp>
      <p:sp>
        <p:nvSpPr>
          <p:cNvPr id="3" name="slide-03-title">
            <a:extLst xmlns:a="http://schemas.openxmlformats.org/drawingml/2006/main">
              <a:ext uri="{FF2B5EF4-FFF2-40B4-BE49-F238E27FC236}">
                <a16:creationId xmlns:a16="http://schemas.microsoft.com/office/drawing/2014/main" id="{A8C88967-5992-4D3F-B1C2-8D482E0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62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B"/>
                </a:solidFill>
              </a:defRPr>
            </a:pPr>
            <a:r>
              <a:rPr sz="3300" b="1">
                <a:solidFill>
                  <a:srgbClr val="17202B"/>
                </a:solidFill>
              </a:rPr>
              <a:t>Build from the strength you already have</a:t>
            </a:r>
          </a:p>
        </p:txBody>
      </p:sp>
      <p:sp>
        <p:nvSpPr>
          <p:cNvPr id="4" name="lane-rule-0">
            <a:extLst xmlns:a="http://schemas.openxmlformats.org/drawingml/2006/main">
              <a:ext uri="{FF2B5EF4-FFF2-40B4-BE49-F238E27FC236}">
                <a16:creationId xmlns:a16="http://schemas.microsoft.com/office/drawing/2014/main" id="{E5824737-E3CA-43B4-8A3F-1F86E6E3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ne-title-0">
            <a:extLst xmlns:a="http://schemas.openxmlformats.org/drawingml/2006/main">
              <a:ext uri="{FF2B5EF4-FFF2-40B4-BE49-F238E27FC236}">
                <a16:creationId xmlns:a16="http://schemas.microsoft.com/office/drawing/2014/main" id="{0A88AFFB-FD7D-4EC6-BFCC-92B84B9F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B"/>
                </a:solidFill>
              </a:defRPr>
            </a:pPr>
            <a:r>
              <a:rPr sz="2250" b="1">
                <a:solidFill>
                  <a:srgbClr val="17202B"/>
                </a:solidFill>
              </a:rPr>
              <a:t>Product</a:t>
            </a:r>
          </a:p>
        </p:txBody>
      </p:sp>
      <p:sp>
        <p:nvSpPr>
          <p:cNvPr id="6" name="lane-strength-0">
            <a:extLst xmlns:a="http://schemas.openxmlformats.org/drawingml/2006/main">
              <a:ext uri="{FF2B5EF4-FFF2-40B4-BE49-F238E27FC236}">
                <a16:creationId xmlns:a16="http://schemas.microsoft.com/office/drawing/2014/main" id="{3B8476C5-8BDF-43F0-B425-D0A98EF4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E8"/>
                </a:solidFill>
              </a:defRPr>
            </a:pPr>
            <a:r>
              <a:rPr sz="1350" b="1">
                <a:solidFill>
                  <a:srgbClr val="1468E8"/>
                </a:solidFill>
              </a:rPr>
              <a:t>Discovery and prioritization</a:t>
            </a:r>
          </a:p>
        </p:txBody>
      </p:sp>
      <p:sp>
        <p:nvSpPr>
          <p:cNvPr id="7" name="lane-move-0">
            <a:extLst xmlns:a="http://schemas.openxmlformats.org/drawingml/2006/main">
              <a:ext uri="{FF2B5EF4-FFF2-40B4-BE49-F238E27FC236}">
                <a16:creationId xmlns:a16="http://schemas.microsoft.com/office/drawing/2014/main" id="{F69A71B7-BEE4-4BC8-ACC6-D8C5983F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0"/>
                </a:solidFill>
              </a:defRPr>
            </a:pPr>
            <a:r>
              <a:rPr sz="1425" b="0">
                <a:solidFill>
                  <a:srgbClr val="667080"/>
                </a:solidFill>
              </a:rPr>
              <a:t>Turn decisions into executable AI workflows.</a:t>
            </a:r>
          </a:p>
        </p:txBody>
      </p:sp>
      <p:sp>
        <p:nvSpPr>
          <p:cNvPr id="8" name="lane-rule-1">
            <a:extLst xmlns:a="http://schemas.openxmlformats.org/drawingml/2006/main">
              <a:ext uri="{FF2B5EF4-FFF2-40B4-BE49-F238E27FC236}">
                <a16:creationId xmlns:a16="http://schemas.microsoft.com/office/drawing/2014/main" id="{77045C54-10BA-49F6-AAD2-14A4F18B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ne-title-1">
            <a:extLst xmlns:a="http://schemas.openxmlformats.org/drawingml/2006/main">
              <a:ext uri="{FF2B5EF4-FFF2-40B4-BE49-F238E27FC236}">
                <a16:creationId xmlns:a16="http://schemas.microsoft.com/office/drawing/2014/main" id="{588D6BEA-4033-4F23-8E60-B2EA6AC3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67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B"/>
                </a:solidFill>
              </a:defRPr>
            </a:pPr>
            <a:r>
              <a:rPr sz="2250" b="1">
                <a:solidFill>
                  <a:srgbClr val="17202B"/>
                </a:solidFill>
              </a:rPr>
              <a:t>Engineering</a:t>
            </a:r>
          </a:p>
        </p:txBody>
      </p:sp>
      <p:sp>
        <p:nvSpPr>
          <p:cNvPr id="10" name="lane-strength-1">
            <a:extLst xmlns:a="http://schemas.openxmlformats.org/drawingml/2006/main">
              <a:ext uri="{FF2B5EF4-FFF2-40B4-BE49-F238E27FC236}">
                <a16:creationId xmlns:a16="http://schemas.microsoft.com/office/drawing/2014/main" id="{30A8230D-C110-4EB7-A353-90EC8BE4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E8"/>
                </a:solidFill>
              </a:defRPr>
            </a:pPr>
            <a:r>
              <a:rPr sz="1350" b="1">
                <a:solidFill>
                  <a:srgbClr val="1468E8"/>
                </a:solidFill>
              </a:rPr>
              <a:t>Systems and reliability</a:t>
            </a:r>
          </a:p>
        </p:txBody>
      </p:sp>
      <p:sp>
        <p:nvSpPr>
          <p:cNvPr id="11" name="lane-move-1">
            <a:extLst xmlns:a="http://schemas.openxmlformats.org/drawingml/2006/main">
              <a:ext uri="{FF2B5EF4-FFF2-40B4-BE49-F238E27FC236}">
                <a16:creationId xmlns:a16="http://schemas.microsoft.com/office/drawing/2014/main" id="{E2FA6634-9AB2-4155-87AE-454E0A20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433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0"/>
                </a:solidFill>
              </a:defRPr>
            </a:pPr>
            <a:r>
              <a:rPr sz="1425" b="0">
                <a:solidFill>
                  <a:srgbClr val="667080"/>
                </a:solidFill>
              </a:rPr>
              <a:t>Connect prototypes to real constraints and outcomes.</a:t>
            </a:r>
          </a:p>
        </p:txBody>
      </p:sp>
      <p:sp>
        <p:nvSpPr>
          <p:cNvPr id="12" name="lane-rule-2">
            <a:extLst xmlns:a="http://schemas.openxmlformats.org/drawingml/2006/main">
              <a:ext uri="{FF2B5EF4-FFF2-40B4-BE49-F238E27FC236}">
                <a16:creationId xmlns:a16="http://schemas.microsoft.com/office/drawing/2014/main" id="{53A24B23-4448-4D23-B6D3-F7E1DD5A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ne-title-2">
            <a:extLst xmlns:a="http://schemas.openxmlformats.org/drawingml/2006/main">
              <a:ext uri="{FF2B5EF4-FFF2-40B4-BE49-F238E27FC236}">
                <a16:creationId xmlns:a16="http://schemas.microsoft.com/office/drawing/2014/main" id="{2306C2BF-7751-4111-B0E5-A49DCDF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B"/>
                </a:solidFill>
              </a:defRPr>
            </a:pPr>
            <a:r>
              <a:rPr sz="2250" b="1">
                <a:solidFill>
                  <a:srgbClr val="17202B"/>
                </a:solidFill>
              </a:rPr>
              <a:t>Business</a:t>
            </a:r>
          </a:p>
        </p:txBody>
      </p:sp>
      <p:sp>
        <p:nvSpPr>
          <p:cNvPr id="14" name="lane-strength-2">
            <a:extLst xmlns:a="http://schemas.openxmlformats.org/drawingml/2006/main">
              <a:ext uri="{FF2B5EF4-FFF2-40B4-BE49-F238E27FC236}">
                <a16:creationId xmlns:a16="http://schemas.microsoft.com/office/drawing/2014/main" id="{3286FFEB-1B99-4184-9D7D-C4311BA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E8"/>
                </a:solidFill>
              </a:defRPr>
            </a:pPr>
            <a:r>
              <a:rPr sz="1350" b="1">
                <a:solidFill>
                  <a:srgbClr val="1468E8"/>
                </a:solidFill>
              </a:rPr>
              <a:t>Domain judgment and adoption</a:t>
            </a:r>
          </a:p>
        </p:txBody>
      </p:sp>
      <p:sp>
        <p:nvSpPr>
          <p:cNvPr id="15" name="lane-move-2">
            <a:extLst xmlns:a="http://schemas.openxmlformats.org/drawingml/2006/main">
              <a:ext uri="{FF2B5EF4-FFF2-40B4-BE49-F238E27FC236}">
                <a16:creationId xmlns:a16="http://schemas.microsoft.com/office/drawing/2014/main" id="{36FA743E-8294-47B1-83C9-9C1BAD13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0"/>
                </a:solidFill>
              </a:defRPr>
            </a:pPr>
            <a:r>
              <a:rPr sz="1425" b="0">
                <a:solidFill>
                  <a:srgbClr val="667080"/>
                </a:solidFill>
              </a:rPr>
              <a:t>Translate work into requirements, evaluation, and use.</a:t>
            </a:r>
          </a:p>
        </p:txBody>
      </p:sp>
    </p:spTree>
    <p:extLst>
      <p:ext uri="{BB962C8B-B14F-4D97-AF65-F5344CB8AC3E}">
        <p14:creationId xmlns:p14="http://schemas.microsoft.com/office/powerpoint/2010/main" val="1456425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4">
            <a:extLst xmlns:a="http://schemas.openxmlformats.org/drawingml/2006/main">
              <a:ext uri="{FF2B5EF4-FFF2-40B4-BE49-F238E27FC236}">
                <a16:creationId xmlns:a16="http://schemas.microsoft.com/office/drawing/2014/main" id="{06DBB00D-80B0-44FD-8EC8-C8C9A45F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8E8"/>
                </a:solidFill>
              </a:defRPr>
            </a:pPr>
            <a:r>
              <a:rPr sz="975" b="1">
                <a:solidFill>
                  <a:srgbClr val="1468E8"/>
                </a:solidFill>
              </a:rPr>
              <a:t>EVIDENCE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6B6B5C2F-4EC2-4D9E-BB08-C3115471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04</a:t>
            </a:r>
          </a:p>
        </p:txBody>
      </p:sp>
      <p:sp>
        <p:nvSpPr>
          <p:cNvPr id="3" name="slide-04-title">
            <a:extLst xmlns:a="http://schemas.openxmlformats.org/drawingml/2006/main">
              <a:ext uri="{FF2B5EF4-FFF2-40B4-BE49-F238E27FC236}">
                <a16:creationId xmlns:a16="http://schemas.microsoft.com/office/drawing/2014/main" id="{0B054FB0-9828-47E4-AAFC-2267E5C6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33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B"/>
                </a:solidFill>
              </a:defRPr>
            </a:pPr>
            <a:r>
              <a:rPr sz="3300" b="1">
                <a:solidFill>
                  <a:srgbClr val="17202B"/>
                </a:solidFill>
              </a:rPr>
              <a:t>Build one real workflow, end to end</a:t>
            </a:r>
          </a:p>
        </p:txBody>
      </p:sp>
      <p:sp>
        <p:nvSpPr>
          <p:cNvPr id="4" name="sequence-line">
            <a:extLst xmlns:a="http://schemas.openxmlformats.org/drawingml/2006/main">
              <a:ext uri="{FF2B5EF4-FFF2-40B4-BE49-F238E27FC236}">
                <a16:creationId xmlns:a16="http://schemas.microsoft.com/office/drawing/2014/main" id="{96B058D5-0F62-4DA9-A757-9A242E3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3B1F50A7-9B15-47B1-A6FD-8268402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number-text-0">
            <a:extLst xmlns:a="http://schemas.openxmlformats.org/drawingml/2006/main">
              <a:ext uri="{FF2B5EF4-FFF2-40B4-BE49-F238E27FC236}">
                <a16:creationId xmlns:a16="http://schemas.microsoft.com/office/drawing/2014/main" id="{C581075D-92C1-4347-9A8E-004B57B0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24CC551E-5258-4A70-8B5A-22EBC43F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B"/>
                </a:solidFill>
              </a:defRPr>
            </a:pPr>
            <a:r>
              <a:rPr sz="1725" b="1">
                <a:solidFill>
                  <a:srgbClr val="17202B"/>
                </a:solidFill>
              </a:rPr>
              <a:t>Problem</a:t>
            </a:r>
          </a:p>
        </p:txBody>
      </p:sp>
      <p:sp>
        <p:nvSpPr>
          <p:cNvPr id="8" name="step-body-0">
            <a:extLst xmlns:a="http://schemas.openxmlformats.org/drawingml/2006/main">
              <a:ext uri="{FF2B5EF4-FFF2-40B4-BE49-F238E27FC236}">
                <a16:creationId xmlns:a16="http://schemas.microsoft.com/office/drawing/2014/main" id="{176DA216-DE3C-42E2-BB73-292278FC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Observe the work</a:t>
            </a:r>
          </a:p>
        </p:txBody>
      </p:sp>
      <p:sp>
        <p:nvSpPr>
          <p:cNvPr id="9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EB5CF7D7-372E-4659-8129-27D28AE9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31FF35F5-CF35-4DBA-90EC-AB1BB789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51846858-FDA6-4C79-A96D-C2A11965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24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B"/>
                </a:solidFill>
              </a:defRPr>
            </a:pPr>
            <a:r>
              <a:rPr sz="1725" b="1">
                <a:solidFill>
                  <a:srgbClr val="17202B"/>
                </a:solidFill>
              </a:rPr>
              <a:t>Prototype</a:t>
            </a:r>
          </a:p>
        </p:txBody>
      </p:sp>
      <p:sp>
        <p:nvSpPr>
          <p:cNvPr id="12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3C3828B-A337-4C58-88C0-EFDF282D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577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Create a testable loop</a:t>
            </a:r>
          </a:p>
        </p:txBody>
      </p:sp>
      <p:sp>
        <p:nvSpPr>
          <p:cNvPr id="13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55A3E83-F56C-4CB7-B69C-B688F12E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099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97592242-6765-4FB9-99B0-3B16889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099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F6081270-49DE-46BA-ACE9-DC5E5F60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24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B"/>
                </a:solidFill>
              </a:defRPr>
            </a:pPr>
            <a:r>
              <a:rPr sz="1725" b="1">
                <a:solidFill>
                  <a:srgbClr val="17202B"/>
                </a:solidFill>
              </a:rPr>
              <a:t>Integrate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5829548-7E46-413D-BE12-144E0DA7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577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Use real constraints</a:t>
            </a:r>
          </a:p>
        </p:txBody>
      </p:sp>
      <p:sp>
        <p:nvSpPr>
          <p:cNvPr id="17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8BC255C8-B95C-4548-BF03-A3160748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number-text-3">
            <a:extLst xmlns:a="http://schemas.openxmlformats.org/drawingml/2006/main">
              <a:ext uri="{FF2B5EF4-FFF2-40B4-BE49-F238E27FC236}">
                <a16:creationId xmlns:a16="http://schemas.microsoft.com/office/drawing/2014/main" id="{0B1B636D-8E7B-4C27-B3FF-E4A2200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A614261F-344C-46BC-9388-E3F65353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24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B"/>
                </a:solidFill>
              </a:defRPr>
            </a:pPr>
            <a:r>
              <a:rPr sz="1725" b="1">
                <a:solidFill>
                  <a:srgbClr val="17202B"/>
                </a:solidFill>
              </a:rPr>
              <a:t>Feedback</a:t>
            </a:r>
          </a:p>
        </p:txBody>
      </p:sp>
      <p:sp>
        <p:nvSpPr>
          <p:cNvPr id="2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407F810B-089B-4B21-9918-2921917C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Watch people use it</a:t>
            </a:r>
          </a:p>
        </p:txBody>
      </p:sp>
      <p:sp>
        <p:nvSpPr>
          <p:cNvPr id="21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4EFA8C04-FB74-4293-8627-52F1717D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99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ber-text-4">
            <a:extLst xmlns:a="http://schemas.openxmlformats.org/drawingml/2006/main">
              <a:ext uri="{FF2B5EF4-FFF2-40B4-BE49-F238E27FC236}">
                <a16:creationId xmlns:a16="http://schemas.microsoft.com/office/drawing/2014/main" id="{D978E093-1689-4DD6-B75A-27BD09B4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99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5B6D6D30-8BAD-4006-9166-7E142121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24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B"/>
                </a:solidFill>
              </a:defRPr>
            </a:pPr>
            <a:r>
              <a:rPr sz="1725" b="1">
                <a:solidFill>
                  <a:srgbClr val="17202B"/>
                </a:solidFill>
              </a:rPr>
              <a:t>Adoption</a:t>
            </a:r>
          </a:p>
        </p:txBody>
      </p:sp>
      <p:sp>
        <p:nvSpPr>
          <p:cNvPr id="24" name="step-body-4">
            <a:extLst xmlns:a="http://schemas.openxmlformats.org/drawingml/2006/main">
              <a:ext uri="{FF2B5EF4-FFF2-40B4-BE49-F238E27FC236}">
                <a16:creationId xmlns:a16="http://schemas.microsoft.com/office/drawing/2014/main" id="{20DF4450-8879-4289-9FAE-E61985CC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5770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0"/>
                </a:solidFill>
              </a:defRPr>
            </a:pPr>
            <a:r>
              <a:rPr sz="1200" b="0">
                <a:solidFill>
                  <a:srgbClr val="667080"/>
                </a:solidFill>
              </a:rPr>
              <a:t>Measure changed behavior</a:t>
            </a:r>
          </a:p>
        </p:txBody>
      </p:sp>
    </p:spTree>
    <p:extLst>
      <p:ext uri="{BB962C8B-B14F-4D97-AF65-F5344CB8AC3E}">
        <p14:creationId xmlns:p14="http://schemas.microsoft.com/office/powerpoint/2010/main" val="366702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3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5">
            <a:extLst xmlns:a="http://schemas.openxmlformats.org/drawingml/2006/main">
              <a:ext uri="{FF2B5EF4-FFF2-40B4-BE49-F238E27FC236}">
                <a16:creationId xmlns:a16="http://schemas.microsoft.com/office/drawing/2014/main" id="{F3CEB3E1-0A24-4FB5-93B1-9D9D0A7B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8E8"/>
                </a:solidFill>
              </a:defRPr>
            </a:pPr>
            <a:r>
              <a:rPr sz="975" b="1">
                <a:solidFill>
                  <a:srgbClr val="1468E8"/>
                </a:solidFill>
              </a:rPr>
              <a:t>30 DAYS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8286BCCD-80CD-4768-8C37-D9DF01FD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0"/>
                </a:solidFill>
              </a:defRPr>
            </a:pPr>
            <a:r>
              <a:rPr sz="900" b="0">
                <a:solidFill>
                  <a:srgbClr val="667080"/>
                </a:solidFill>
              </a:rPr>
              <a:t>05</a:t>
            </a:r>
          </a:p>
        </p:txBody>
      </p:sp>
      <p:sp>
        <p:nvSpPr>
          <p:cNvPr id="3" name="slide-05-title">
            <a:extLst xmlns:a="http://schemas.openxmlformats.org/drawingml/2006/main">
              <a:ext uri="{FF2B5EF4-FFF2-40B4-BE49-F238E27FC236}">
                <a16:creationId xmlns:a16="http://schemas.microsoft.com/office/drawing/2014/main" id="{9EFE3341-CD8D-45BA-917E-5F4A4A33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2B"/>
                </a:solidFill>
              </a:defRPr>
            </a:pPr>
            <a:r>
              <a:rPr sz="3750" b="1">
                <a:solidFill>
                  <a:srgbClr val="17202B"/>
                </a:solidFill>
              </a:rPr>
              <a:t>Observe. Build. Ship. Teach.</a:t>
            </a:r>
          </a:p>
        </p:txBody>
      </p:sp>
      <p:sp>
        <p:nvSpPr>
          <p:cNvPr id="4" name="slide-05-thesis">
            <a:extLst xmlns:a="http://schemas.openxmlformats.org/drawingml/2006/main">
              <a:ext uri="{FF2B5EF4-FFF2-40B4-BE49-F238E27FC236}">
                <a16:creationId xmlns:a16="http://schemas.microsoft.com/office/drawing/2014/main" id="{920BFFCA-A187-403C-A2C3-38EB948E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0"/>
                </a:solidFill>
              </a:defRPr>
            </a:pPr>
            <a:r>
              <a:rPr sz="1725" b="0">
                <a:solidFill>
                  <a:srgbClr val="667080"/>
                </a:solidFill>
              </a:rPr>
              <a:t>One week for each motion. The goal is credible evidence—not a perfect demo.</a:t>
            </a:r>
          </a:p>
        </p:txBody>
      </p:sp>
      <p:sp>
        <p:nvSpPr>
          <p:cNvPr id="5" name="week-number-0">
            <a:extLst xmlns:a="http://schemas.openxmlformats.org/drawingml/2006/main">
              <a:ext uri="{FF2B5EF4-FFF2-40B4-BE49-F238E27FC236}">
                <a16:creationId xmlns:a16="http://schemas.microsoft.com/office/drawing/2014/main" id="{4900D0FD-994F-4AD1-9831-C62D08D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E8"/>
                </a:solidFill>
              </a:defRPr>
            </a:pPr>
            <a:r>
              <a:rPr sz="1350" b="1">
                <a:solidFill>
                  <a:srgbClr val="1468E8"/>
                </a:solidFill>
              </a:rPr>
              <a:t>01</a:t>
            </a:r>
          </a:p>
        </p:txBody>
      </p:sp>
      <p:sp>
        <p:nvSpPr>
          <p:cNvPr id="6" name="week-rule-0">
            <a:extLst xmlns:a="http://schemas.openxmlformats.org/drawingml/2006/main">
              <a:ext uri="{FF2B5EF4-FFF2-40B4-BE49-F238E27FC236}">
                <a16:creationId xmlns:a16="http://schemas.microsoft.com/office/drawing/2014/main" id="{6C59325A-6251-48C7-9D56-7F1B304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eek-title-0">
            <a:extLst xmlns:a="http://schemas.openxmlformats.org/drawingml/2006/main">
              <a:ext uri="{FF2B5EF4-FFF2-40B4-BE49-F238E27FC236}">
                <a16:creationId xmlns:a16="http://schemas.microsoft.com/office/drawing/2014/main" id="{9DC0B58F-B36A-47C9-8B83-74347F03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B"/>
                </a:solidFill>
              </a:defRPr>
            </a:pPr>
            <a:r>
              <a:rPr sz="1950" b="1">
                <a:solidFill>
                  <a:srgbClr val="17202B"/>
                </a:solidFill>
              </a:rPr>
              <a:t>Observe</a:t>
            </a:r>
          </a:p>
        </p:txBody>
      </p:sp>
      <p:sp>
        <p:nvSpPr>
          <p:cNvPr id="8" name="week-body-0">
            <a:extLst xmlns:a="http://schemas.openxmlformats.org/drawingml/2006/main">
              <a:ext uri="{FF2B5EF4-FFF2-40B4-BE49-F238E27FC236}">
                <a16:creationId xmlns:a16="http://schemas.microsoft.com/office/drawing/2014/main" id="{EE9A1D12-01D1-4855-90CC-64D74602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Choose one workflow and watch where people lose time or confidence.</a:t>
            </a:r>
          </a:p>
        </p:txBody>
      </p:sp>
      <p:sp>
        <p:nvSpPr>
          <p:cNvPr id="9" name="week-number-1">
            <a:extLst xmlns:a="http://schemas.openxmlformats.org/drawingml/2006/main">
              <a:ext uri="{FF2B5EF4-FFF2-40B4-BE49-F238E27FC236}">
                <a16:creationId xmlns:a16="http://schemas.microsoft.com/office/drawing/2014/main" id="{B01F75D1-01E5-4836-83CC-A3577A9B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38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E8"/>
                </a:solidFill>
              </a:defRPr>
            </a:pPr>
            <a:r>
              <a:rPr sz="1350" b="1">
                <a:solidFill>
                  <a:srgbClr val="1468E8"/>
                </a:solidFill>
              </a:rPr>
              <a:t>02</a:t>
            </a:r>
          </a:p>
        </p:txBody>
      </p:sp>
      <p:sp>
        <p:nvSpPr>
          <p:cNvPr id="10" name="week-rule-1">
            <a:extLst xmlns:a="http://schemas.openxmlformats.org/drawingml/2006/main">
              <a:ext uri="{FF2B5EF4-FFF2-40B4-BE49-F238E27FC236}">
                <a16:creationId xmlns:a16="http://schemas.microsoft.com/office/drawing/2014/main" id="{8752377E-05FD-4BB8-A25D-BCE530A4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3380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eek-title-1">
            <a:extLst xmlns:a="http://schemas.openxmlformats.org/drawingml/2006/main">
              <a:ext uri="{FF2B5EF4-FFF2-40B4-BE49-F238E27FC236}">
                <a16:creationId xmlns:a16="http://schemas.microsoft.com/office/drawing/2014/main" id="{8BF9B3EE-D766-4659-AE45-CFD45792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95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B"/>
                </a:solidFill>
              </a:defRPr>
            </a:pPr>
            <a:r>
              <a:rPr sz="1950" b="1">
                <a:solidFill>
                  <a:srgbClr val="17202B"/>
                </a:solidFill>
              </a:rPr>
              <a:t>Build</a:t>
            </a:r>
          </a:p>
        </p:txBody>
      </p:sp>
      <p:sp>
        <p:nvSpPr>
          <p:cNvPr id="12" name="week-body-1">
            <a:extLst xmlns:a="http://schemas.openxmlformats.org/drawingml/2006/main">
              <a:ext uri="{FF2B5EF4-FFF2-40B4-BE49-F238E27FC236}">
                <a16:creationId xmlns:a16="http://schemas.microsoft.com/office/drawing/2014/main" id="{5D4E9D24-FDAF-44DB-B6C5-6C23FC8B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91050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Create the smallest useful AI loop and put it in front of a user.</a:t>
            </a:r>
          </a:p>
        </p:txBody>
      </p:sp>
      <p:sp>
        <p:nvSpPr>
          <p:cNvPr id="13" name="week-number-2">
            <a:extLst xmlns:a="http://schemas.openxmlformats.org/drawingml/2006/main">
              <a:ext uri="{FF2B5EF4-FFF2-40B4-BE49-F238E27FC236}">
                <a16:creationId xmlns:a16="http://schemas.microsoft.com/office/drawing/2014/main" id="{4DCE4F52-166A-4C38-8A07-E2CED88E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E8"/>
                </a:solidFill>
              </a:defRPr>
            </a:pPr>
            <a:r>
              <a:rPr sz="1350" b="1">
                <a:solidFill>
                  <a:srgbClr val="1468E8"/>
                </a:solidFill>
              </a:rPr>
              <a:t>03</a:t>
            </a:r>
          </a:p>
        </p:txBody>
      </p:sp>
      <p:sp>
        <p:nvSpPr>
          <p:cNvPr id="14" name="week-rule-2">
            <a:extLst xmlns:a="http://schemas.openxmlformats.org/drawingml/2006/main">
              <a:ext uri="{FF2B5EF4-FFF2-40B4-BE49-F238E27FC236}">
                <a16:creationId xmlns:a16="http://schemas.microsoft.com/office/drawing/2014/main" id="{222FDBD5-0F01-480A-8C71-EDC875D9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B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eek-title-2">
            <a:extLst xmlns:a="http://schemas.openxmlformats.org/drawingml/2006/main">
              <a:ext uri="{FF2B5EF4-FFF2-40B4-BE49-F238E27FC236}">
                <a16:creationId xmlns:a16="http://schemas.microsoft.com/office/drawing/2014/main" id="{1892F8C4-60CC-4F11-A3AE-2FFDE4E1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B"/>
                </a:solidFill>
              </a:defRPr>
            </a:pPr>
            <a:r>
              <a:rPr sz="1950" b="1">
                <a:solidFill>
                  <a:srgbClr val="17202B"/>
                </a:solidFill>
              </a:rPr>
              <a:t>Ship</a:t>
            </a:r>
          </a:p>
        </p:txBody>
      </p:sp>
      <p:sp>
        <p:nvSpPr>
          <p:cNvPr id="16" name="week-body-2">
            <a:extLst xmlns:a="http://schemas.openxmlformats.org/drawingml/2006/main">
              <a:ext uri="{FF2B5EF4-FFF2-40B4-BE49-F238E27FC236}">
                <a16:creationId xmlns:a16="http://schemas.microsoft.com/office/drawing/2014/main" id="{52D7AA7F-0A67-4593-BFF7-CA9F3BB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Connect real data, permissions, failure states, and feedback.</a:t>
            </a:r>
          </a:p>
        </p:txBody>
      </p:sp>
      <p:sp>
        <p:nvSpPr>
          <p:cNvPr id="17" name="week-number-3">
            <a:extLst xmlns:a="http://schemas.openxmlformats.org/drawingml/2006/main">
              <a:ext uri="{FF2B5EF4-FFF2-40B4-BE49-F238E27FC236}">
                <a16:creationId xmlns:a16="http://schemas.microsoft.com/office/drawing/2014/main" id="{F4C35796-7E18-4D7D-B316-4FBB335A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8E8"/>
                </a:solidFill>
              </a:defRPr>
            </a:pPr>
            <a:r>
              <a:rPr sz="1350" b="1">
                <a:solidFill>
                  <a:srgbClr val="1468E8"/>
                </a:solidFill>
              </a:rPr>
              <a:t>04</a:t>
            </a:r>
          </a:p>
        </p:txBody>
      </p:sp>
      <p:sp>
        <p:nvSpPr>
          <p:cNvPr id="18" name="week-rule-3">
            <a:extLst xmlns:a="http://schemas.openxmlformats.org/drawingml/2006/main">
              <a:ext uri="{FF2B5EF4-FFF2-40B4-BE49-F238E27FC236}">
                <a16:creationId xmlns:a16="http://schemas.microsoft.com/office/drawing/2014/main" id="{1F259E0C-6EB0-41B2-8E9B-21A871E0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33800"/>
            <a:ext cx="2343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eek-title-3">
            <a:extLst xmlns:a="http://schemas.openxmlformats.org/drawingml/2006/main">
              <a:ext uri="{FF2B5EF4-FFF2-40B4-BE49-F238E27FC236}">
                <a16:creationId xmlns:a16="http://schemas.microsoft.com/office/drawing/2014/main" id="{BD34FCAA-4716-4F86-8A3F-751231EA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B"/>
                </a:solidFill>
              </a:defRPr>
            </a:pPr>
            <a:r>
              <a:rPr sz="1950" b="1">
                <a:solidFill>
                  <a:srgbClr val="17202B"/>
                </a:solidFill>
              </a:rPr>
              <a:t>Teach</a:t>
            </a:r>
          </a:p>
        </p:txBody>
      </p:sp>
      <p:sp>
        <p:nvSpPr>
          <p:cNvPr id="20" name="week-body-3">
            <a:extLst xmlns:a="http://schemas.openxmlformats.org/drawingml/2006/main">
              <a:ext uri="{FF2B5EF4-FFF2-40B4-BE49-F238E27FC236}">
                <a16:creationId xmlns:a16="http://schemas.microsoft.com/office/drawing/2014/main" id="{3F99642D-8270-4DC8-A89E-447D2A7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362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0"/>
                </a:solidFill>
              </a:defRPr>
            </a:pPr>
            <a:r>
              <a:rPr sz="1275" b="0">
                <a:solidFill>
                  <a:srgbClr val="667080"/>
                </a:solidFill>
              </a:rPr>
              <a:t>Document the new habit and help someone else adopt it.</a:t>
            </a:r>
          </a:p>
        </p:txBody>
      </p:sp>
    </p:spTree>
    <p:extLst>
      <p:ext uri="{BB962C8B-B14F-4D97-AF65-F5344CB8AC3E}">
        <p14:creationId xmlns:p14="http://schemas.microsoft.com/office/powerpoint/2010/main" val="1084496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A4C02EED-7A00-412B-9A8E-6DE1D6A1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B340"/>
                </a:solidFill>
              </a:defRPr>
            </a:pPr>
            <a:r>
              <a:rPr sz="975" b="1">
                <a:solidFill>
                  <a:srgbClr val="EFB340"/>
                </a:solidFill>
              </a:rPr>
              <a:t>START HERE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5FABDE7-59E2-42F4-A84E-6C3F578D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525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Choose the problem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you are willing to own</a:t>
            </a:r>
          </a:p>
        </p:txBody>
      </p:sp>
      <p:sp>
        <p:nvSpPr>
          <p:cNvPr id="3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5FF50B98-56A5-4B9B-A64F-EC5F3AF8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8D0DA"/>
                </a:solidFill>
              </a:defRPr>
            </a:pPr>
            <a:r>
              <a:rPr sz="1950" b="0">
                <a:solidFill>
                  <a:srgbClr val="C8D0DA"/>
                </a:solidFill>
              </a:rPr>
              <a:t>One workflow. One user group. One measurable outcome.</a:t>
            </a:r>
          </a:p>
        </p:txBody>
      </p:sp>
      <p:sp>
        <p:nvSpPr>
          <p:cNvPr id="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9C7AF3FE-26F9-430A-B355-91086389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footer">
            <a:extLst xmlns:a="http://schemas.openxmlformats.org/drawingml/2006/main">
              <a:ext uri="{FF2B5EF4-FFF2-40B4-BE49-F238E27FC236}">
                <a16:creationId xmlns:a16="http://schemas.microsoft.com/office/drawing/2014/main" id="{2C09E3A5-5D8C-485B-B214-CBBF13FB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6B3"/>
                </a:solidFill>
              </a:defRPr>
            </a:pPr>
            <a:r>
              <a:rPr sz="1050" b="0">
                <a:solidFill>
                  <a:srgbClr val="9AA6B3"/>
                </a:solidFill>
              </a:rPr>
              <a:t>create-presentations · Native example</a:t>
            </a:r>
          </a:p>
        </p:txBody>
      </p:sp>
      <p:sp>
        <p:nvSpPr>
          <p:cNvPr id="6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7820221F-45CE-460F-98D4-750B2CA1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6B3"/>
                </a:solidFill>
              </a:defRPr>
            </a:pPr>
            <a:r>
              <a:rPr sz="900" b="0">
                <a:solidFill>
                  <a:srgbClr val="9AA6B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958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2026-08-10T04:06:43.4590000Z</dcterms:created>
  <dcterms:modified xsi:type="dcterms:W3CDTF">2026-08-10T04:06:43.4590000Z</dcterms:modified>
</coreProperties>
</file>